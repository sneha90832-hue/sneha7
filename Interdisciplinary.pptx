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  <p:sldMasterId id="2147483686" r:id="rId4"/>
  </p:sldMasterIdLst>
  <p:notesMasterIdLst>
    <p:notesMasterId r:id="rId15"/>
  </p:notesMasterIdLst>
  <p:handoutMasterIdLst>
    <p:handoutMasterId r:id="rId16"/>
  </p:handoutMasterIdLst>
  <p:sldIdLst>
    <p:sldId id="313" r:id="rId5"/>
    <p:sldId id="257" r:id="rId6"/>
    <p:sldId id="314" r:id="rId7"/>
    <p:sldId id="334" r:id="rId8"/>
    <p:sldId id="335" r:id="rId9"/>
    <p:sldId id="315" r:id="rId10"/>
    <p:sldId id="337" r:id="rId11"/>
    <p:sldId id="336" r:id="rId12"/>
    <p:sldId id="333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23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E01"/>
    <a:srgbClr val="000000"/>
    <a:srgbClr val="585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howGuides="1">
      <p:cViewPr varScale="1">
        <p:scale>
          <a:sx n="60" d="100"/>
          <a:sy n="60" d="100"/>
        </p:scale>
        <p:origin x="72" y="180"/>
      </p:cViewPr>
      <p:guideLst>
        <p:guide orient="horz" pos="1049"/>
        <p:guide pos="23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Gupta" userId="e4eca5c17d8d0374" providerId="LiveId" clId="{45E3121F-7D96-4785-B4B4-3DBADA7C78E9}"/>
    <pc:docChg chg="modSld">
      <pc:chgData name="Aditya Gupta" userId="e4eca5c17d8d0374" providerId="LiveId" clId="{45E3121F-7D96-4785-B4B4-3DBADA7C78E9}" dt="2026-07-27T18:13:45.170" v="60" actId="20577"/>
      <pc:docMkLst>
        <pc:docMk/>
      </pc:docMkLst>
      <pc:sldChg chg="modSp mod">
        <pc:chgData name="Aditya Gupta" userId="e4eca5c17d8d0374" providerId="LiveId" clId="{45E3121F-7D96-4785-B4B4-3DBADA7C78E9}" dt="2026-07-27T18:12:54.650" v="52" actId="20577"/>
        <pc:sldMkLst>
          <pc:docMk/>
          <pc:sldMk cId="563791893" sldId="313"/>
        </pc:sldMkLst>
        <pc:spChg chg="mod">
          <ac:chgData name="Aditya Gupta" userId="e4eca5c17d8d0374" providerId="LiveId" clId="{45E3121F-7D96-4785-B4B4-3DBADA7C78E9}" dt="2026-07-27T18:12:54.650" v="52" actId="20577"/>
          <ac:spMkLst>
            <pc:docMk/>
            <pc:sldMk cId="563791893" sldId="313"/>
            <ac:spMk id="9" creationId="{00000000-0000-0000-0000-000000000000}"/>
          </ac:spMkLst>
        </pc:spChg>
      </pc:sldChg>
      <pc:sldChg chg="modSp mod">
        <pc:chgData name="Aditya Gupta" userId="e4eca5c17d8d0374" providerId="LiveId" clId="{45E3121F-7D96-4785-B4B4-3DBADA7C78E9}" dt="2026-07-27T18:13:45.170" v="60" actId="20577"/>
        <pc:sldMkLst>
          <pc:docMk/>
          <pc:sldMk cId="3198700423" sldId="314"/>
        </pc:sldMkLst>
        <pc:spChg chg="mod">
          <ac:chgData name="Aditya Gupta" userId="e4eca5c17d8d0374" providerId="LiveId" clId="{45E3121F-7D96-4785-B4B4-3DBADA7C78E9}" dt="2026-07-27T18:13:45.170" v="60" actId="20577"/>
          <ac:spMkLst>
            <pc:docMk/>
            <pc:sldMk cId="3198700423" sldId="314"/>
            <ac:spMk id="3" creationId="{42DDB778-1577-63FB-FE02-A2B4A62F6EA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>
                <a:latin typeface="Futura Cyrillic Book" panose="020B0502020204020303" charset="0"/>
              </a:rPr>
              <a:t>7/27/2026</a:t>
            </a:fld>
            <a:endParaRPr lang="en-US">
              <a:latin typeface="Futura Cyrillic Book" panose="020B0502020204020303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>
                <a:latin typeface="Futura Cyrillic Book" panose="020B0502020204020303" charset="0"/>
              </a:rPr>
              <a:t>‹#›</a:t>
            </a:fld>
            <a:endParaRPr lang="en-US">
              <a:latin typeface="Futura Cyrillic Book" panose="020B050202020402030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413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0ECD8AD1-49EC-45F2-A2FF-1FE3195688C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7782813F-5D25-4BB6-888C-4601F8575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13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AE0C0-9961-3877-B64B-1798BC03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058F8-9BC6-BCBD-2440-FD87BC0AD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83FC03-6964-FD5F-660B-5252FAC14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3833F-818A-07D9-9608-D61FDF5CE1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078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20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4CA1D-24FE-03F5-24A0-A8E95EDB4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E8430-FF46-0ABC-34E3-7E59A0A51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72097-E6F2-6A27-73AC-3ABE96B43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17D3B-964A-5922-E658-AE9CBB706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334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4CA1D-24FE-03F5-24A0-A8E95EDB4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E8430-FF46-0ABC-34E3-7E59A0A51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72097-E6F2-6A27-73AC-3ABE96B43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17D3B-964A-5922-E658-AE9CBB706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636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4CA1D-24FE-03F5-24A0-A8E95EDB4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E8430-FF46-0ABC-34E3-7E59A0A51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72097-E6F2-6A27-73AC-3ABE96B43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17D3B-964A-5922-E658-AE9CBB706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477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F1DC2-CC67-6728-1DCE-9A86576D7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F8666-3984-06A6-601C-181B8F1EB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75A76-433C-F6BE-BF32-0C8812988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98CC9-5B1B-BEA1-3A4E-24B9658A0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581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F1DC2-CC67-6728-1DCE-9A86576D7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F8666-3984-06A6-601C-181B8F1EB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75A76-433C-F6BE-BF32-0C8812988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98CC9-5B1B-BEA1-3A4E-24B9658A0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912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F1DC2-CC67-6728-1DCE-9A86576D7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F8666-3984-06A6-601C-181B8F1EB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75A76-433C-F6BE-BF32-0C8812988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98CC9-5B1B-BEA1-3A4E-24B9658A0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164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3AFEF-5520-0556-6AE6-FE0EBC678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7A385C-0956-DECB-2C39-9E6FCCAE5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E8A79-574A-FA4B-BD70-D813297F3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E1555-8A99-CE70-D73A-65A7AB3982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829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35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274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944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969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99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80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400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401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121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400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2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36B80835-DEB3-4275-B379-2566D87801A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95999-A99C-46D6-BFDA-AEFA180EA74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4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5CC4F-B48D-60FE-DBA3-C305BFC7A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6D842F8C-79AB-6C20-2959-863A98696793}"/>
              </a:ext>
            </a:extLst>
          </p:cNvPr>
          <p:cNvSpPr/>
          <p:nvPr/>
        </p:nvSpPr>
        <p:spPr>
          <a:xfrm flipH="1">
            <a:off x="-24000" y="-2"/>
            <a:ext cx="1800475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ACF6EFA9-CA41-87EA-B451-51ED8B0BBC5C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AD7A43-43FB-EEB5-0DA4-5F297F989D47}"/>
              </a:ext>
            </a:extLst>
          </p:cNvPr>
          <p:cNvGrpSpPr/>
          <p:nvPr/>
        </p:nvGrpSpPr>
        <p:grpSpPr>
          <a:xfrm>
            <a:off x="122050" y="1474470"/>
            <a:ext cx="147473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7E7AAE28-C6AD-CBBE-10F9-8FF0D3852E64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09E9B678-F306-9660-AD9F-DAE4ED91A8FD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F55D90F3-31F2-061D-A214-ABBE1CF0E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A55F050-480D-828C-4394-40025F25AC45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2C591F6-BADB-C16C-FE76-BB69409E1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2688" y="189000"/>
            <a:ext cx="9336677" cy="6480000"/>
          </a:xfrm>
          <a:ln>
            <a:solidFill>
              <a:schemeClr val="accent1">
                <a:shade val="50000"/>
                <a:alpha val="93000"/>
              </a:schemeClr>
            </a:solidFill>
          </a:ln>
        </p:spPr>
        <p:txBody>
          <a:bodyPr>
            <a:normAutofit/>
          </a:bodyPr>
          <a:lstStyle/>
          <a:p>
            <a:pPr algn="just">
              <a:lnSpc>
                <a:spcPct val="115000"/>
              </a:lnSpc>
            </a:pPr>
            <a:endParaRPr lang="en-US" sz="2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endParaRPr lang="en-US" sz="2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r>
              <a:rPr lang="en-US" sz="2400" dirty="0">
                <a:ea typeface="Times New Roman" panose="02020603050405020304" pitchFamily="18" charset="0"/>
                <a:cs typeface="Arial" panose="020B0604020202020204" pitchFamily="34" charset="0"/>
              </a:rPr>
              <a:t>Problem Statement/ Project name: </a:t>
            </a:r>
          </a:p>
          <a:p>
            <a:pPr marL="0" indent="0" algn="just">
              <a:lnSpc>
                <a:spcPct val="115000"/>
              </a:lnSpc>
              <a:buNone/>
            </a:pPr>
            <a:r>
              <a:rPr lang="en-US" sz="2400" b="1" dirty="0">
                <a:ea typeface="Times New Roman" panose="02020603050405020304" pitchFamily="18" charset="0"/>
                <a:cs typeface="Arial" panose="020B0604020202020204" pitchFamily="34" charset="0"/>
              </a:rPr>
              <a:t>SafeQuake Alert System</a:t>
            </a:r>
          </a:p>
          <a:p>
            <a:pPr marL="0" indent="0" algn="just">
              <a:lnSpc>
                <a:spcPct val="115000"/>
              </a:lnSpc>
              <a:buNone/>
            </a:pPr>
            <a:endParaRPr lang="en-US" sz="2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r>
              <a:rPr lang="en-US" sz="2400" dirty="0">
                <a:ea typeface="Times New Roman" panose="02020603050405020304" pitchFamily="18" charset="0"/>
                <a:cs typeface="Arial" panose="020B0604020202020204" pitchFamily="34" charset="0"/>
              </a:rPr>
              <a:t>Team members:</a:t>
            </a:r>
          </a:p>
          <a:p>
            <a:pPr marL="0" indent="0" algn="just">
              <a:lnSpc>
                <a:spcPct val="115000"/>
              </a:lnSpc>
              <a:buNone/>
            </a:pPr>
            <a:endParaRPr lang="en-US" sz="2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endParaRPr lang="en-US" sz="2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endParaRPr lang="en-US" sz="2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endParaRPr lang="en-US" sz="2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endParaRPr lang="en-US" sz="2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endParaRPr lang="en-US" sz="2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endParaRPr lang="en-US" sz="2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endParaRPr lang="en-US" sz="3600" dirty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926158" y="362670"/>
            <a:ext cx="7849841" cy="90633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INTERDISCIPLINARY PROJECT WORK  (</a:t>
            </a:r>
            <a:r>
              <a:rPr lang="en-US" sz="2800" b="1"/>
              <a:t>1BPRJ25</a:t>
            </a:r>
            <a:endParaRPr lang="en-US" sz="2800" b="1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994247"/>
              </p:ext>
            </p:extLst>
          </p:nvPr>
        </p:nvGraphicFramePr>
        <p:xfrm>
          <a:off x="2540352" y="3643668"/>
          <a:ext cx="8127999" cy="2730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5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5332">
                <a:tc>
                  <a:txBody>
                    <a:bodyPr/>
                    <a:lstStyle/>
                    <a:p>
                      <a:r>
                        <a:rPr lang="en-US" dirty="0"/>
                        <a:t>Sl. No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USN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ADITYA GUPTA</a:t>
                      </a:r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1AZ25CS005</a:t>
                      </a:r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AADRITI</a:t>
                      </a:r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1AZ25CS002</a:t>
                      </a:r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SNEHA KUMARI</a:t>
                      </a:r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1AY25CS166</a:t>
                      </a:r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VAIBHAV MESTA</a:t>
                      </a:r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1AY25CS195</a:t>
                      </a:r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YASH KUMAR</a:t>
                      </a:r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1AZ25CS192</a:t>
                      </a:r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ANAGHA RAJ</a:t>
                      </a:r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1AZ25CS013</a:t>
                      </a:r>
                    </a:p>
                  </a:txBody>
                  <a:tcPr>
                    <a:solidFill>
                      <a:schemeClr val="accent1">
                        <a:alpha val="8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379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18000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/>
          <p:cNvGrpSpPr/>
          <p:nvPr/>
        </p:nvGrpSpPr>
        <p:grpSpPr>
          <a:xfrm>
            <a:off x="122051" y="1474470"/>
            <a:ext cx="1522832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2531565" y="1269002"/>
            <a:ext cx="8857800" cy="395999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sz="4400" dirty="0"/>
          </a:p>
          <a:p>
            <a:pPr marL="0" indent="0" algn="just">
              <a:buNone/>
            </a:pPr>
            <a:endParaRPr lang="en-IN" sz="4400" dirty="0"/>
          </a:p>
          <a:p>
            <a:pPr marL="0" indent="0" algn="just">
              <a:buNone/>
            </a:pPr>
            <a:r>
              <a:rPr lang="en-IN" sz="4400" dirty="0"/>
              <a:t>        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171752" y="1269000"/>
            <a:ext cx="931062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Contents</a:t>
            </a:r>
          </a:p>
          <a:p>
            <a:pPr marL="342900" indent="-342900">
              <a:buAutoNum type="arabicPeriod"/>
            </a:pPr>
            <a:r>
              <a:rPr lang="en-US" sz="3200" b="1" dirty="0"/>
              <a:t>Introduction and Background of problem statement</a:t>
            </a:r>
          </a:p>
          <a:p>
            <a:pPr marL="342900" indent="-342900">
              <a:buAutoNum type="arabicPeriod"/>
            </a:pPr>
            <a:r>
              <a:rPr lang="en-US" sz="3200" b="1" dirty="0"/>
              <a:t>Objectives of the problem statement</a:t>
            </a:r>
          </a:p>
          <a:p>
            <a:pPr marL="342900" indent="-342900">
              <a:buAutoNum type="arabicPeriod"/>
            </a:pPr>
            <a:r>
              <a:rPr lang="en-US" sz="3200" b="1" dirty="0"/>
              <a:t>Strategy to execute</a:t>
            </a:r>
          </a:p>
          <a:p>
            <a:pPr marL="342900" indent="-342900">
              <a:buAutoNum type="arabicPeriod"/>
            </a:pPr>
            <a:r>
              <a:rPr lang="en-US" sz="3200" b="1" dirty="0"/>
              <a:t>Work carried out so far</a:t>
            </a:r>
          </a:p>
          <a:p>
            <a:pPr marL="342900" indent="-342900">
              <a:buAutoNum type="arabicPeriod"/>
            </a:pPr>
            <a:r>
              <a:rPr lang="en-US" sz="3200" b="1" dirty="0"/>
              <a:t>Expected outcome</a:t>
            </a:r>
            <a:endParaRPr lang="en-IN" sz="32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91C62-7B62-1858-0051-E5FE22CE5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461D1BB5-81C7-DD81-E8EA-A0E0D0D0362D}"/>
              </a:ext>
            </a:extLst>
          </p:cNvPr>
          <p:cNvSpPr/>
          <p:nvPr/>
        </p:nvSpPr>
        <p:spPr>
          <a:xfrm flipH="1">
            <a:off x="-24000" y="-2"/>
            <a:ext cx="197419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193D9117-031B-D7E8-FA12-97D77C4C0153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FC50DFD-653A-C5C5-E667-68DB8D57291D}"/>
              </a:ext>
            </a:extLst>
          </p:cNvPr>
          <p:cNvGrpSpPr/>
          <p:nvPr/>
        </p:nvGrpSpPr>
        <p:grpSpPr>
          <a:xfrm>
            <a:off x="122051" y="1474470"/>
            <a:ext cx="1653950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9E02B971-2709-B4F8-4150-D9ACA516F210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1EE7627D-155E-9B9A-52C3-B5FD60C0478D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0682FFC9-0563-1567-A275-030F8C792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AF60A6D-2BB3-C737-570D-A3A6215F8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9715" y="273711"/>
            <a:ext cx="8359650" cy="6480000"/>
          </a:xfrm>
        </p:spPr>
        <p:txBody>
          <a:bodyPr>
            <a:normAutofit/>
          </a:bodyPr>
          <a:lstStyle/>
          <a:p>
            <a:pPr algn="just">
              <a:lnSpc>
                <a:spcPct val="115000"/>
              </a:lnSpc>
            </a:pPr>
            <a:endParaRPr lang="en-US" dirty="0"/>
          </a:p>
          <a:p>
            <a:pPr marL="0" indent="0" algn="just">
              <a:lnSpc>
                <a:spcPct val="115000"/>
              </a:lnSpc>
              <a:buNone/>
            </a:pPr>
            <a:endParaRPr lang="en-IN" sz="3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endParaRPr lang="en-IN" sz="3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0EB88F-4BB0-0998-11C1-964023650F18}"/>
              </a:ext>
            </a:extLst>
          </p:cNvPr>
          <p:cNvSpPr txBox="1"/>
          <p:nvPr/>
        </p:nvSpPr>
        <p:spPr>
          <a:xfrm>
            <a:off x="2472818" y="273711"/>
            <a:ext cx="84658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Introduction and Background of problem statement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DDB778-1577-63FB-FE02-A2B4A62F6EA9}"/>
              </a:ext>
            </a:extLst>
          </p:cNvPr>
          <p:cNvSpPr txBox="1"/>
          <p:nvPr/>
        </p:nvSpPr>
        <p:spPr>
          <a:xfrm>
            <a:off x="2541356" y="1628320"/>
            <a:ext cx="71778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•Earthquake is a natural disaster that occurs without warning.</a:t>
            </a:r>
          </a:p>
          <a:p>
            <a:r>
              <a:rPr lang="en-US" sz="3200" dirty="0"/>
              <a:t>•It causes serious damage to life and property.</a:t>
            </a:r>
          </a:p>
          <a:p>
            <a:r>
              <a:rPr lang="en-US" sz="3200" dirty="0"/>
              <a:t>•If we receive a warning 5–10 minutes earlier, we can move to a safe place</a:t>
            </a:r>
          </a:p>
          <a:p>
            <a:r>
              <a:rPr lang="en-US" sz="3200" dirty="0"/>
              <a:t>•To solve this problem we are developing a sensor system that can be installed in homes to provide early alerts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98700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91C62-7B62-1858-0051-E5FE22CE5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461D1BB5-81C7-DD81-E8EA-A0E0D0D0362D}"/>
              </a:ext>
            </a:extLst>
          </p:cNvPr>
          <p:cNvSpPr/>
          <p:nvPr/>
        </p:nvSpPr>
        <p:spPr>
          <a:xfrm flipH="1">
            <a:off x="-24000" y="-2"/>
            <a:ext cx="197419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193D9117-031B-D7E8-FA12-97D77C4C0153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FC50DFD-653A-C5C5-E667-68DB8D57291D}"/>
              </a:ext>
            </a:extLst>
          </p:cNvPr>
          <p:cNvGrpSpPr/>
          <p:nvPr/>
        </p:nvGrpSpPr>
        <p:grpSpPr>
          <a:xfrm>
            <a:off x="122051" y="1474470"/>
            <a:ext cx="1653950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9E02B971-2709-B4F8-4150-D9ACA516F210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1EE7627D-155E-9B9A-52C3-B5FD60C0478D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0682FFC9-0563-1567-A275-030F8C792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AF60A6D-2BB3-C737-570D-A3A6215F8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8740" y="1645601"/>
            <a:ext cx="8260006" cy="4663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3200" dirty="0"/>
              <a:t>•To detect the initial vibrations of an earthquake</a:t>
            </a:r>
          </a:p>
          <a:p>
            <a:pPr marL="0" indent="0" algn="just">
              <a:lnSpc>
                <a:spcPct val="115000"/>
              </a:lnSpc>
              <a:buNone/>
            </a:pPr>
            <a:r>
              <a:rPr lang="en-US" sz="3200" dirty="0"/>
              <a:t>•To provide an alert at least 10 minutes before the earthquake (if possible)</a:t>
            </a:r>
          </a:p>
          <a:p>
            <a:pPr marL="0" indent="0" algn="just">
              <a:lnSpc>
                <a:spcPct val="115000"/>
              </a:lnSpc>
              <a:buNone/>
            </a:pPr>
            <a:r>
              <a:rPr lang="en-US" sz="3200" dirty="0"/>
              <a:t>•To design a device that can be easily installed in houses</a:t>
            </a:r>
          </a:p>
          <a:p>
            <a:pPr marL="0" indent="0" algn="just">
              <a:lnSpc>
                <a:spcPct val="115000"/>
              </a:lnSpc>
              <a:buNone/>
            </a:pPr>
            <a:r>
              <a:rPr lang="en-US" sz="3200" dirty="0"/>
              <a:t>•To develop an alarm and mobile notification system</a:t>
            </a:r>
            <a:endParaRPr lang="en-IN" sz="32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E0C4B0-E6EE-53CD-CCED-28C10B9BDE79}"/>
              </a:ext>
            </a:extLst>
          </p:cNvPr>
          <p:cNvSpPr txBox="1"/>
          <p:nvPr/>
        </p:nvSpPr>
        <p:spPr>
          <a:xfrm>
            <a:off x="2198740" y="189000"/>
            <a:ext cx="8382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Objectives of the problem statement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4724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91C62-7B62-1858-0051-E5FE22CE5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461D1BB5-81C7-DD81-E8EA-A0E0D0D0362D}"/>
              </a:ext>
            </a:extLst>
          </p:cNvPr>
          <p:cNvSpPr/>
          <p:nvPr/>
        </p:nvSpPr>
        <p:spPr>
          <a:xfrm flipH="1">
            <a:off x="-24000" y="-2"/>
            <a:ext cx="197419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193D9117-031B-D7E8-FA12-97D77C4C0153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FC50DFD-653A-C5C5-E667-68DB8D57291D}"/>
              </a:ext>
            </a:extLst>
          </p:cNvPr>
          <p:cNvGrpSpPr/>
          <p:nvPr/>
        </p:nvGrpSpPr>
        <p:grpSpPr>
          <a:xfrm>
            <a:off x="122051" y="1474470"/>
            <a:ext cx="1653950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9E02B971-2709-B4F8-4150-D9ACA516F210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1EE7627D-155E-9B9A-52C3-B5FD60C0478D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0682FFC9-0563-1567-A275-030F8C792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AF60A6D-2BB3-C737-570D-A3A6215F8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354" y="1192408"/>
            <a:ext cx="8850645" cy="5116591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15000"/>
              </a:lnSpc>
              <a:buNone/>
            </a:pPr>
            <a:endParaRPr lang="en-US" sz="4100" dirty="0"/>
          </a:p>
          <a:p>
            <a:pPr marL="0" indent="0" algn="just">
              <a:lnSpc>
                <a:spcPct val="115000"/>
              </a:lnSpc>
              <a:buNone/>
            </a:pPr>
            <a:r>
              <a:rPr lang="en-US" sz="41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•A vibration sensor will be used to detect seismic activity</a:t>
            </a:r>
          </a:p>
          <a:p>
            <a:pPr marL="0" indent="0" algn="just">
              <a:lnSpc>
                <a:spcPct val="115000"/>
              </a:lnSpc>
              <a:buNone/>
            </a:pPr>
            <a:r>
              <a:rPr lang="en-US" sz="41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•A microcontroller (such as Arduino) will process the data</a:t>
            </a:r>
          </a:p>
          <a:p>
            <a:pPr marL="0" indent="0" algn="just">
              <a:lnSpc>
                <a:spcPct val="115000"/>
              </a:lnSpc>
              <a:buNone/>
            </a:pPr>
            <a:r>
              <a:rPr lang="en-US" sz="41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•If unusual vibrations are detected, the alarm system will activate.</a:t>
            </a:r>
          </a:p>
          <a:p>
            <a:pPr marL="0" indent="0" algn="just">
              <a:lnSpc>
                <a:spcPct val="115000"/>
              </a:lnSpc>
              <a:buNone/>
            </a:pPr>
            <a:r>
              <a:rPr lang="en-US" sz="41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•The system will be installed on the floor or wall of the house.</a:t>
            </a:r>
            <a:endParaRPr lang="en-IN" sz="4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endParaRPr lang="en-IN" sz="36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F7E8BA-8EAD-5F6A-F6D6-575D82FB11C7}"/>
              </a:ext>
            </a:extLst>
          </p:cNvPr>
          <p:cNvSpPr txBox="1"/>
          <p:nvPr/>
        </p:nvSpPr>
        <p:spPr>
          <a:xfrm>
            <a:off x="2285354" y="269078"/>
            <a:ext cx="828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Strategy to execute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9411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1E77C-F91F-B674-D6D3-AF836B3A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E11E565-1682-BE39-D0C9-E972A90DDC71}"/>
              </a:ext>
            </a:extLst>
          </p:cNvPr>
          <p:cNvSpPr/>
          <p:nvPr/>
        </p:nvSpPr>
        <p:spPr>
          <a:xfrm flipH="1">
            <a:off x="-24000" y="-2"/>
            <a:ext cx="18000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B509B955-0E08-0986-778A-887C7644802C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155C507-F879-05AC-033F-6E195D61999C}"/>
              </a:ext>
            </a:extLst>
          </p:cNvPr>
          <p:cNvGrpSpPr/>
          <p:nvPr/>
        </p:nvGrpSpPr>
        <p:grpSpPr>
          <a:xfrm>
            <a:off x="49025" y="1506219"/>
            <a:ext cx="1653950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6DD0227B-C29C-183F-0E6E-EA0E70399CB1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E0F07EF8-5E01-EEC0-9AE3-EFED106C9BE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1F007010-FBC7-9F0F-6B2C-B7135AEDD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420C884-FCFF-E08B-141D-51109E395032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6AE765-BEA5-707F-A77A-20DD8F4BD567}"/>
              </a:ext>
            </a:extLst>
          </p:cNvPr>
          <p:cNvSpPr txBox="1"/>
          <p:nvPr/>
        </p:nvSpPr>
        <p:spPr>
          <a:xfrm>
            <a:off x="2433043" y="573769"/>
            <a:ext cx="864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Work carried out so far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A65BC2-EA82-B394-A7EC-7901367515F7}"/>
              </a:ext>
            </a:extLst>
          </p:cNvPr>
          <p:cNvSpPr txBox="1"/>
          <p:nvPr/>
        </p:nvSpPr>
        <p:spPr>
          <a:xfrm>
            <a:off x="2009971" y="1697989"/>
            <a:ext cx="86401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Identified the main problem related to lack of early earthquake warning at home level.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Studied the working principle of seismic sensors and accelerometers.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Selected appropriate components such as vibration sensor, microcontroller, and alarm module.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 Uninterrupted Power Supply to the device(including a </a:t>
            </a:r>
            <a:r>
              <a:rPr lang="en-US" sz="3200"/>
              <a:t>battery backup).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5588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1E77C-F91F-B674-D6D3-AF836B3A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E11E565-1682-BE39-D0C9-E972A90DDC71}"/>
              </a:ext>
            </a:extLst>
          </p:cNvPr>
          <p:cNvSpPr/>
          <p:nvPr/>
        </p:nvSpPr>
        <p:spPr>
          <a:xfrm flipH="1">
            <a:off x="-24000" y="-2"/>
            <a:ext cx="18000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B509B955-0E08-0986-778A-887C7644802C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155C507-F879-05AC-033F-6E195D61999C}"/>
              </a:ext>
            </a:extLst>
          </p:cNvPr>
          <p:cNvGrpSpPr/>
          <p:nvPr/>
        </p:nvGrpSpPr>
        <p:grpSpPr>
          <a:xfrm>
            <a:off x="49025" y="1506219"/>
            <a:ext cx="1653950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6DD0227B-C29C-183F-0E6E-EA0E70399CB1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E0F07EF8-5E01-EEC0-9AE3-EFED106C9BE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1F007010-FBC7-9F0F-6B2C-B7135AEDD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420C884-FCFF-E08B-141D-51109E395032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4489BA-2AC1-5DAB-A6EC-0DF2219CA3AA}"/>
              </a:ext>
            </a:extLst>
          </p:cNvPr>
          <p:cNvSpPr txBox="1"/>
          <p:nvPr/>
        </p:nvSpPr>
        <p:spPr>
          <a:xfrm>
            <a:off x="2136000" y="337005"/>
            <a:ext cx="468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Expected outcome</a:t>
            </a:r>
            <a:endParaRPr lang="en-IN" sz="3600" b="1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C2029-A076-5E24-CDBF-883A7E023283}"/>
              </a:ext>
            </a:extLst>
          </p:cNvPr>
          <p:cNvSpPr txBox="1"/>
          <p:nvPr/>
        </p:nvSpPr>
        <p:spPr>
          <a:xfrm>
            <a:off x="2052688" y="1260335"/>
            <a:ext cx="836331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Early signs of earthquakes will be detected.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People will receive alerts in advance.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Loss of life and property can be reduced.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An affordable safety device can be installed in homes.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660698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1E77C-F91F-B674-D6D3-AF836B3A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E11E565-1682-BE39-D0C9-E972A90DDC71}"/>
              </a:ext>
            </a:extLst>
          </p:cNvPr>
          <p:cNvSpPr/>
          <p:nvPr/>
        </p:nvSpPr>
        <p:spPr>
          <a:xfrm flipH="1">
            <a:off x="-24000" y="-2"/>
            <a:ext cx="18000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B509B955-0E08-0986-778A-887C7644802C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155C507-F879-05AC-033F-6E195D61999C}"/>
              </a:ext>
            </a:extLst>
          </p:cNvPr>
          <p:cNvGrpSpPr/>
          <p:nvPr/>
        </p:nvGrpSpPr>
        <p:grpSpPr>
          <a:xfrm>
            <a:off x="49025" y="1506219"/>
            <a:ext cx="1653950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6DD0227B-C29C-183F-0E6E-EA0E70399CB1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E0F07EF8-5E01-EEC0-9AE3-EFED106C9BE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1F007010-FBC7-9F0F-6B2C-B7135AEDD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420C884-FCFF-E08B-141D-51109E395032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90B55C-A3C1-2DB3-8D2D-80D344AD16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58" y="951981"/>
            <a:ext cx="8757083" cy="58684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9DE8D8-C5A6-2B5C-54A2-E7CE6824A7F5}"/>
              </a:ext>
            </a:extLst>
          </p:cNvPr>
          <p:cNvSpPr txBox="1"/>
          <p:nvPr/>
        </p:nvSpPr>
        <p:spPr>
          <a:xfrm>
            <a:off x="2437459" y="305650"/>
            <a:ext cx="2879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Conclusion:</a:t>
            </a:r>
          </a:p>
        </p:txBody>
      </p:sp>
    </p:spTree>
    <p:extLst>
      <p:ext uri="{BB962C8B-B14F-4D97-AF65-F5344CB8AC3E}">
        <p14:creationId xmlns:p14="http://schemas.microsoft.com/office/powerpoint/2010/main" val="1709887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020B4-A363-F8F4-CEDE-E3A9E175F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60659E38-3564-0D66-5F2D-88375186BA4B}"/>
              </a:ext>
            </a:extLst>
          </p:cNvPr>
          <p:cNvSpPr/>
          <p:nvPr/>
        </p:nvSpPr>
        <p:spPr>
          <a:xfrm flipH="1">
            <a:off x="-24000" y="-2"/>
            <a:ext cx="18000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2921A25D-A845-5FF2-41C3-3C2A44E75263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54B1B2-1F7B-A647-898B-53E59793319F}"/>
              </a:ext>
            </a:extLst>
          </p:cNvPr>
          <p:cNvGrpSpPr/>
          <p:nvPr/>
        </p:nvGrpSpPr>
        <p:grpSpPr>
          <a:xfrm>
            <a:off x="49025" y="1269000"/>
            <a:ext cx="1653949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9E175EAF-6DF7-2589-29AD-33789D60283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D114C72A-7819-1FD0-06A5-AF7CA4D1F0B2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61003810-B817-EA68-1213-A912000AF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1860B55-0100-E7BC-DCB7-C09C0D4876C6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F43068-B288-B3F2-887E-D771D6C80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581" y="454498"/>
            <a:ext cx="8786582" cy="585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41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191" y="2444499"/>
            <a:ext cx="9081568" cy="4493761"/>
          </a:xfrm>
          <a:prstGeom prst="rect">
            <a:avLst/>
          </a:prstGeom>
        </p:spPr>
      </p:pic>
      <p:sp>
        <p:nvSpPr>
          <p:cNvPr id="5" name="Rectangle"/>
          <p:cNvSpPr/>
          <p:nvPr/>
        </p:nvSpPr>
        <p:spPr>
          <a:xfrm flipH="1">
            <a:off x="-24000" y="-2"/>
            <a:ext cx="176657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3" name="Group 32"/>
          <p:cNvGrpSpPr/>
          <p:nvPr/>
        </p:nvGrpSpPr>
        <p:grpSpPr>
          <a:xfrm>
            <a:off x="122051" y="1474470"/>
            <a:ext cx="1653950" cy="3067050"/>
            <a:chOff x="230" y="2322"/>
            <a:chExt cx="3479" cy="4830"/>
          </a:xfrm>
        </p:grpSpPr>
        <p:sp>
          <p:nvSpPr>
            <p:cNvPr id="34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35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36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4" name="TextBox 1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450BB6-E5EB-60CF-FC2D-4065ED1FB3FF}"/>
              </a:ext>
            </a:extLst>
          </p:cNvPr>
          <p:cNvSpPr txBox="1"/>
          <p:nvPr/>
        </p:nvSpPr>
        <p:spPr>
          <a:xfrm>
            <a:off x="3936000" y="1382806"/>
            <a:ext cx="504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Thank you</a:t>
            </a:r>
            <a:endParaRPr lang="en-IN" sz="4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1462</TotalTime>
  <Words>351</Words>
  <Application>Microsoft Office PowerPoint</Application>
  <PresentationFormat>Widescreen</PresentationFormat>
  <Paragraphs>91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Futura Cyrillic Book</vt:lpstr>
      <vt:lpstr>Times New Roman</vt:lpstr>
      <vt:lpstr>1_Custom Design</vt:lpstr>
      <vt:lpstr>Custom Design</vt:lpstr>
      <vt:lpstr>2_Custom Design</vt:lpstr>
      <vt:lpstr>3_Custom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Principal aip</dc:creator>
  <cp:lastModifiedBy>Aditya Gupta</cp:lastModifiedBy>
  <cp:revision>103</cp:revision>
  <dcterms:created xsi:type="dcterms:W3CDTF">2021-09-07T04:22:00Z</dcterms:created>
  <dcterms:modified xsi:type="dcterms:W3CDTF">2026-07-27T18:14:11Z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0398283ACE364599A240D38F3F474187_13</vt:lpwstr>
  </property>
  <property fmtid="{D5CDD505-2E9C-101B-9397-08002B2CF9AE}" pid="3" name="KSOProductBuildVer">
    <vt:lpwstr>1033-12.2.0.13489</vt:lpwstr>
  </property>
</Properties>
</file>